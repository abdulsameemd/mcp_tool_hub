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43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97067-5ED7-88FD-8235-0C70F4BFF5B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40188" y="4927600"/>
            <a:ext cx="1089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DEWA-Confidential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87552"/>
            <a:ext cx="329184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pPr algn="ctr"/>
            <a:endParaRPr lang="en-AE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SAP UI5/Fiori  DEVELOPMENT 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CC84"/>
                </a:solidFill>
              </a:rPr>
              <a:t>UI5 / Fiori — MCP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9978" y="1781771"/>
            <a:ext cx="6217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Frontend</a:t>
            </a:r>
            <a:endParaRPr lang="en-US" sz="4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 flipV="1">
            <a:off x="548640" y="3354727"/>
            <a:ext cx="2926080" cy="45719"/>
          </a:xfrm>
          <a:prstGeom prst="rect">
            <a:avLst/>
          </a:prstGeom>
          <a:solidFill>
            <a:srgbClr val="00CC84"/>
          </a:solidFill>
          <a:ln w="12700">
            <a:solidFill>
              <a:srgbClr val="00CC8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548640" y="355701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E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Context Protocol accelerates how developers build SAP applications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8EE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deliver intelligent outcomes through LLMs.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05841"/>
            <a:ext cx="4387249" cy="282907"/>
          </a:xfrm>
          <a:prstGeom prst="rect">
            <a:avLst/>
          </a:prstGeom>
          <a:solidFill>
            <a:srgbClr val="0D2040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pPr algn="ctr"/>
            <a:endParaRPr lang="en-AE" dirty="0"/>
          </a:p>
        </p:txBody>
      </p:sp>
      <p:sp>
        <p:nvSpPr>
          <p:cNvPr id="9" name="Text 7"/>
          <p:cNvSpPr/>
          <p:nvPr/>
        </p:nvSpPr>
        <p:spPr>
          <a:xfrm>
            <a:off x="-253798" y="4077852"/>
            <a:ext cx="56282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C84"/>
                </a:solidFill>
              </a:rPr>
              <a:t>UI5 MCP — Developer Speed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UI5 / FIORI MCP · PHASE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Speed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0832" y="1115568"/>
            <a:ext cx="402336" cy="3730752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315968" y="2724912"/>
            <a:ext cx="512064" cy="512064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315968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4005072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56032" y="111556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UI5 using BAS (Cloud)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1517904"/>
            <a:ext cx="4005072" cy="621792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256032" y="1517904"/>
            <a:ext cx="4005072" cy="502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365760" y="1572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– 60 hrs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59152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Complex UI5/Fiori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Front Application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30352" y="223113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Manual component wiring &amp; OData binding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530352" y="256032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Repetitive boilerplate across views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530352" y="288950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Context switching between docs &amp; IDE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5526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530352" y="321868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Long review cycles for SAP Fiori compliance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2230763"/>
            <a:ext cx="4005072" cy="268833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882896" y="1115568"/>
            <a:ext cx="4005072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3"/>
          <p:cNvSpPr/>
          <p:nvPr/>
        </p:nvSpPr>
        <p:spPr>
          <a:xfrm>
            <a:off x="4882896" y="111556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Copilot in Visual Studio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882896" y="1517904"/>
            <a:ext cx="4005072" cy="621792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hape 25"/>
          <p:cNvSpPr/>
          <p:nvPr/>
        </p:nvSpPr>
        <p:spPr>
          <a:xfrm>
            <a:off x="4882896" y="1517904"/>
            <a:ext cx="4005072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6"/>
          <p:cNvSpPr/>
          <p:nvPr/>
        </p:nvSpPr>
        <p:spPr>
          <a:xfrm>
            <a:off x="4992624" y="1572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 hrs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986016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Any UI5/Fiori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Front Application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992624" y="2267712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29"/>
          <p:cNvSpPr/>
          <p:nvPr/>
        </p:nvSpPr>
        <p:spPr>
          <a:xfrm>
            <a:off x="5157216" y="223113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Natural language prompt → production code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992624" y="2596896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1"/>
          <p:cNvSpPr/>
          <p:nvPr/>
        </p:nvSpPr>
        <p:spPr>
          <a:xfrm>
            <a:off x="5157216" y="256032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MCP injects SAP-compliant UI5 patterns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92624" y="2926080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3"/>
          <p:cNvSpPr/>
          <p:nvPr/>
        </p:nvSpPr>
        <p:spPr>
          <a:xfrm>
            <a:off x="5157216" y="288950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OData metadata parsed automatically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992624" y="3255264"/>
            <a:ext cx="109728" cy="10972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5"/>
          <p:cNvSpPr/>
          <p:nvPr/>
        </p:nvSpPr>
        <p:spPr>
          <a:xfrm>
            <a:off x="5157216" y="321868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Fiori design principles enforced by MCP</a:t>
            </a:r>
            <a:endParaRPr lang="en-US" sz="105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82896" y="2048257"/>
            <a:ext cx="4005072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UI5 / FIORI MCP · PHASE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 Claude + SAP UI5 MCP — Prompting Scenarios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79392" cy="3145536"/>
          </a:xfrm>
          <a:prstGeom prst="rect">
            <a:avLst/>
          </a:prstGeom>
          <a:solidFill>
            <a:srgbClr val="F0F7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279392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279392" cy="502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47472" y="111556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SCENARIO 1 — With OData Metadata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517904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You are a SAP UI5 expert with access to UI5 MCP tools. Your task is to create a production-ready SAP UI5 application that follows SAP Fiori design principles, clean architecture, and enterprise UI/UX standards.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4096512" cy="420624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47472" y="2377440"/>
            <a:ext cx="4096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 ODATA $metadata &gt;&gt;&gt;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871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</a:rPr>
              <a:t>WHEN TO USE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3072384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Use when OData service metadata is available. MCP interprets entity sets, nav properties and binding patterns to scaffold the UI automatically.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657600"/>
            <a:ext cx="1371600" cy="237744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47472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MCP-Optimized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56232" y="3657600"/>
            <a:ext cx="1371600" cy="237744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1856232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SAP-Compliant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08576" y="1115568"/>
            <a:ext cx="4279392" cy="3145536"/>
          </a:xfrm>
          <a:prstGeom prst="rect">
            <a:avLst/>
          </a:prstGeom>
          <a:solidFill>
            <a:srgbClr val="F0FDF7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4608576" y="1115568"/>
            <a:ext cx="4279392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608576" y="1115568"/>
            <a:ext cx="4279392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700016" y="111556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6B"/>
                </a:solidFill>
              </a:rPr>
              <a:t>SCENARIO 2 — Business Requirement + Figma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016" y="1517904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Create freestyle SAP UI5 application from scratch based on a plain-language business requirement — no OData metadata needed. Simply describe what the app should 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0016" y="2377440"/>
            <a:ext cx="4096512" cy="420624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700016" y="2377440"/>
            <a:ext cx="4096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 Figma Design &gt;&gt;&gt;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2871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86B"/>
                </a:solidFill>
              </a:rPr>
              <a:t>WHEN TO USE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0016" y="3072384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Ideal for greenfield apps. Describe the business flow in plain language; MCP generates Fiori-compliant views, routing and controllers without requiring metadata.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657600"/>
            <a:ext cx="1371600" cy="237744"/>
          </a:xfrm>
          <a:prstGeom prst="rect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4700016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6B"/>
                </a:solidFill>
              </a:rPr>
              <a:t>Enforces DESIGN.md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08776" y="3657600"/>
            <a:ext cx="1371600" cy="237744"/>
          </a:xfrm>
          <a:prstGeom prst="rect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6208776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6B"/>
                </a:solidFill>
              </a:rPr>
              <a:t>Works with Copilot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4334256"/>
            <a:ext cx="8631936" cy="43891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365760" y="4334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6B"/>
                </a:solidFill>
              </a:rPr>
              <a:t>WHY THESE PROMPTS WORK: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4425696"/>
            <a:ext cx="1463040" cy="246888"/>
          </a:xfrm>
          <a:prstGeom prst="rect">
            <a:avLst/>
          </a:prstGeom>
          <a:solidFill>
            <a:srgbClr val="00A86B">
              <a:alpha val="20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2514600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84"/>
                </a:solidFill>
              </a:rPr>
              <a:t>MCP-optimized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96512" y="4425696"/>
            <a:ext cx="1463040" cy="246888"/>
          </a:xfrm>
          <a:prstGeom prst="rect">
            <a:avLst/>
          </a:prstGeom>
          <a:solidFill>
            <a:srgbClr val="00A86B">
              <a:alpha val="20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4096512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84"/>
                </a:solidFill>
              </a:rPr>
              <a:t>SAP-compliant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78424" y="4425696"/>
            <a:ext cx="1463040" cy="246888"/>
          </a:xfrm>
          <a:prstGeom prst="rect">
            <a:avLst/>
          </a:prstGeom>
          <a:solidFill>
            <a:srgbClr val="00A86B">
              <a:alpha val="20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5678424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84"/>
                </a:solidFill>
              </a:rPr>
              <a:t>Enforces DESIGN.md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60336" y="4425696"/>
            <a:ext cx="1463040" cy="246888"/>
          </a:xfrm>
          <a:prstGeom prst="rect">
            <a:avLst/>
          </a:prstGeom>
          <a:solidFill>
            <a:srgbClr val="00A86B">
              <a:alpha val="20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7260336" y="442569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84"/>
                </a:solidFill>
              </a:rPr>
              <a:t>Works with Copilot + UI5 MCP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UI5 / FIORI MCP · PHASE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Development Flow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2120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50292" cy="5669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347472" y="1225296"/>
            <a:ext cx="347472" cy="347472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29844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1170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Developer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" y="14081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Types a natural language prompt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463040" y="1682496"/>
            <a:ext cx="0" cy="109728"/>
          </a:xfrm>
          <a:prstGeom prst="line">
            <a:avLst/>
          </a:prstGeom>
          <a:noFill/>
          <a:ln w="19050">
            <a:solidFill>
              <a:srgbClr val="8FA3B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1609344" y="169164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F"/>
                </a:solidFill>
              </a:rPr>
              <a:t>Natural language prompt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56032" y="1801368"/>
            <a:ext cx="52120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6" name="Shape 13"/>
          <p:cNvSpPr/>
          <p:nvPr/>
        </p:nvSpPr>
        <p:spPr>
          <a:xfrm>
            <a:off x="256032" y="1801368"/>
            <a:ext cx="50292" cy="56692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347472" y="1911096"/>
            <a:ext cx="347472" cy="347472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1984248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6384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VS Code (IDE)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86384" y="2093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Forwards prompt to GitHub Copilot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463040" y="2368296"/>
            <a:ext cx="0" cy="109728"/>
          </a:xfrm>
          <a:prstGeom prst="line">
            <a:avLst/>
          </a:prstGeom>
          <a:noFill/>
          <a:ln w="19050">
            <a:solidFill>
              <a:srgbClr val="8FA3B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18"/>
          <p:cNvSpPr/>
          <p:nvPr/>
        </p:nvSpPr>
        <p:spPr>
          <a:xfrm>
            <a:off x="1609344" y="237744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F"/>
                </a:solidFill>
              </a:rPr>
              <a:t>Forwards prompt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56032" y="2487168"/>
            <a:ext cx="52120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4" name="Shape 20"/>
          <p:cNvSpPr/>
          <p:nvPr/>
        </p:nvSpPr>
        <p:spPr>
          <a:xfrm>
            <a:off x="256032" y="2487168"/>
            <a:ext cx="50292" cy="56692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Shape 21"/>
          <p:cNvSpPr/>
          <p:nvPr/>
        </p:nvSpPr>
        <p:spPr>
          <a:xfrm>
            <a:off x="347472" y="2596896"/>
            <a:ext cx="347472" cy="347472"/>
          </a:xfrm>
          <a:prstGeom prst="ellipse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67004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6384" y="2542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GitHub Copilot / Claude / Cline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86384" y="27797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Requests SAP-specific context from MCP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1463040" y="3054096"/>
            <a:ext cx="0" cy="109728"/>
          </a:xfrm>
          <a:prstGeom prst="line">
            <a:avLst/>
          </a:prstGeom>
          <a:noFill/>
          <a:ln w="19050">
            <a:solidFill>
              <a:srgbClr val="8FA3B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5"/>
          <p:cNvSpPr/>
          <p:nvPr/>
        </p:nvSpPr>
        <p:spPr>
          <a:xfrm>
            <a:off x="1609344" y="306324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F"/>
                </a:solidFill>
              </a:rPr>
              <a:t>Requests SAP context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56032" y="3172968"/>
            <a:ext cx="52120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27"/>
          <p:cNvSpPr/>
          <p:nvPr/>
        </p:nvSpPr>
        <p:spPr>
          <a:xfrm>
            <a:off x="256032" y="3172968"/>
            <a:ext cx="50292" cy="566928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Shape 28"/>
          <p:cNvSpPr/>
          <p:nvPr/>
        </p:nvSpPr>
        <p:spPr>
          <a:xfrm>
            <a:off x="347472" y="3282696"/>
            <a:ext cx="347472" cy="347472"/>
          </a:xfrm>
          <a:prstGeom prst="ellipse">
            <a:avLst/>
          </a:prstGeom>
          <a:solidFill>
            <a:srgbClr val="F5C842">
              <a:alpha val="15000"/>
            </a:srgbClr>
          </a:solidFill>
          <a:ln w="12700">
            <a:solidFill>
              <a:srgbClr val="F5C8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35584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86384" y="32278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UI5 MCP Server (local Node.js)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86384" y="34655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Returns UI5 + OData patterns — no business data, no exec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1463040" y="3739896"/>
            <a:ext cx="0" cy="109728"/>
          </a:xfrm>
          <a:prstGeom prst="line">
            <a:avLst/>
          </a:prstGeom>
          <a:noFill/>
          <a:ln w="19050">
            <a:solidFill>
              <a:srgbClr val="8FA3BF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2"/>
          <p:cNvSpPr/>
          <p:nvPr/>
        </p:nvSpPr>
        <p:spPr>
          <a:xfrm>
            <a:off x="1609344" y="374904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F"/>
                </a:solidFill>
              </a:rPr>
              <a:t>SAP-aligned code generated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256032" y="3858768"/>
            <a:ext cx="52120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4"/>
          <p:cNvSpPr/>
          <p:nvPr/>
        </p:nvSpPr>
        <p:spPr>
          <a:xfrm>
            <a:off x="256032" y="3858768"/>
            <a:ext cx="50292" cy="56692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hape 35"/>
          <p:cNvSpPr/>
          <p:nvPr/>
        </p:nvSpPr>
        <p:spPr>
          <a:xfrm>
            <a:off x="347472" y="3968496"/>
            <a:ext cx="347472" cy="347472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4041648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86384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SAP-Aligned UI5 Code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86384" y="41513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Generated UI5 artifact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650992" y="1115568"/>
            <a:ext cx="3236976" cy="1737360"/>
          </a:xfrm>
          <a:prstGeom prst="rect">
            <a:avLst/>
          </a:prstGeom>
          <a:solidFill>
            <a:srgbClr val="112035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6" name="Shape 39"/>
          <p:cNvSpPr/>
          <p:nvPr/>
        </p:nvSpPr>
        <p:spPr>
          <a:xfrm>
            <a:off x="5650992" y="1115568"/>
            <a:ext cx="3236976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0"/>
          <p:cNvSpPr/>
          <p:nvPr/>
        </p:nvSpPr>
        <p:spPr>
          <a:xfrm>
            <a:off x="5742432" y="1170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A86B"/>
                </a:solidFill>
              </a:rPr>
              <a:t>KEY PRINCIPLE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5742432" y="1417320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</a:rPr>
              <a:t>UI5 MCP is a NPM local package maintained as open source by SAP.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</a:rPr>
              <a:t>The MCP Server acts as a structured knowledge layer — it never reads business data, never executes code, and never makes service calls. It only returns SAP-compliant patterns and context.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5650992" y="2999232"/>
            <a:ext cx="3236976" cy="1847088"/>
          </a:xfrm>
          <a:prstGeom prst="rect">
            <a:avLst/>
          </a:prstGeom>
          <a:solidFill>
            <a:srgbClr val="112035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0" name="Shape 43"/>
          <p:cNvSpPr/>
          <p:nvPr/>
        </p:nvSpPr>
        <p:spPr>
          <a:xfrm>
            <a:off x="5650992" y="2999232"/>
            <a:ext cx="3236976" cy="502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4"/>
          <p:cNvSpPr/>
          <p:nvPr/>
        </p:nvSpPr>
        <p:spPr>
          <a:xfrm>
            <a:off x="5742432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B82F6"/>
                </a:solidFill>
              </a:rPr>
              <a:t>KEY POINTS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5742432" y="33832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46"/>
          <p:cNvSpPr/>
          <p:nvPr/>
        </p:nvSpPr>
        <p:spPr>
          <a:xfrm>
            <a:off x="5907024" y="3346704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</a:rPr>
              <a:t>Copilot (GitHub) stays in the cloud (the model)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5742432" y="385876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48"/>
          <p:cNvSpPr/>
          <p:nvPr/>
        </p:nvSpPr>
        <p:spPr>
          <a:xfrm>
            <a:off x="5907024" y="382219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</a:rPr>
              <a:t>UI5 MCP server runs locally via Node.js / npx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5742432" y="43342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50"/>
          <p:cNvSpPr/>
          <p:nvPr/>
        </p:nvSpPr>
        <p:spPr>
          <a:xfrm>
            <a:off x="5907024" y="42976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</a:rPr>
              <a:t>VS Code acts as the bridge — lets Copilot call MCP tools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UI5 / FIORI MCP · PHASE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Setup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05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60520" cy="274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6B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44475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29184" y="155448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57276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490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VS Code IDE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1682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Free, no subscription required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6032" y="194767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256032" y="194767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329184" y="205740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075688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Node.js ≥ v20.x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21854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MCP servers run as local Node processes — Free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45059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8"/>
          <p:cNvSpPr/>
          <p:nvPr/>
        </p:nvSpPr>
        <p:spPr>
          <a:xfrm>
            <a:off x="256032" y="245059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19"/>
          <p:cNvSpPr/>
          <p:nvPr/>
        </p:nvSpPr>
        <p:spPr>
          <a:xfrm>
            <a:off x="329184" y="256032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578608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" y="2496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npm v8.0.0+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0080" y="2688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Terminal access required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56032" y="295351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hape 23"/>
          <p:cNvSpPr/>
          <p:nvPr/>
        </p:nvSpPr>
        <p:spPr>
          <a:xfrm>
            <a:off x="256032" y="295351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4"/>
          <p:cNvSpPr/>
          <p:nvPr/>
        </p:nvSpPr>
        <p:spPr>
          <a:xfrm>
            <a:off x="329184" y="306324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081528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0080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Copilot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3191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Subscription + Copilot Chat extension — GitHub License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256032" y="345643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Shape 28"/>
          <p:cNvSpPr/>
          <p:nvPr/>
        </p:nvSpPr>
        <p:spPr>
          <a:xfrm>
            <a:off x="256032" y="345643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Shape 29"/>
          <p:cNvSpPr/>
          <p:nvPr/>
        </p:nvSpPr>
        <p:spPr>
          <a:xfrm>
            <a:off x="329184" y="356616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584448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0080" y="3502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settings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40080" y="36941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Enable "MCP Servers in Copilot"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256032" y="3959352"/>
            <a:ext cx="41605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3"/>
          <p:cNvSpPr/>
          <p:nvPr/>
        </p:nvSpPr>
        <p:spPr>
          <a:xfrm>
            <a:off x="256032" y="395935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hape 34"/>
          <p:cNvSpPr/>
          <p:nvPr/>
        </p:nvSpPr>
        <p:spPr>
          <a:xfrm>
            <a:off x="329184" y="4069080"/>
            <a:ext cx="219456" cy="21945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087368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008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CLI &amp; VSCode CLI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40080" y="41970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</a:rPr>
              <a:t>Execution permissions required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4663440" y="1115568"/>
            <a:ext cx="4224528" cy="274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6" name="Text 38"/>
          <p:cNvSpPr/>
          <p:nvPr/>
        </p:nvSpPr>
        <p:spPr>
          <a:xfrm>
            <a:off x="475488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6B"/>
                </a:solidFill>
              </a:rPr>
              <a:t>SETUP STEPS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4663440" y="144475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8" name="Shape 40"/>
          <p:cNvSpPr/>
          <p:nvPr/>
        </p:nvSpPr>
        <p:spPr>
          <a:xfrm>
            <a:off x="4663440" y="144475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Shape 41"/>
          <p:cNvSpPr/>
          <p:nvPr/>
        </p:nvSpPr>
        <p:spPr>
          <a:xfrm>
            <a:off x="4736592" y="153619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Text 42"/>
          <p:cNvSpPr/>
          <p:nvPr/>
        </p:nvSpPr>
        <p:spPr>
          <a:xfrm>
            <a:off x="4736592" y="15361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512064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Install VS Code, Node.js, GitHub Copilot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4663440" y="194767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3" name="Shape 45"/>
          <p:cNvSpPr/>
          <p:nvPr/>
        </p:nvSpPr>
        <p:spPr>
          <a:xfrm>
            <a:off x="4663440" y="194767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Shape 46"/>
          <p:cNvSpPr/>
          <p:nvPr/>
        </p:nvSpPr>
        <p:spPr>
          <a:xfrm>
            <a:off x="4736592" y="203911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5" name="Text 47"/>
          <p:cNvSpPr/>
          <p:nvPr/>
        </p:nvSpPr>
        <p:spPr>
          <a:xfrm>
            <a:off x="4736592" y="20391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512064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Enable MCP in Copilot settings</a:t>
            </a:r>
            <a:endParaRPr lang="en-US" sz="1050" dirty="0"/>
          </a:p>
        </p:txBody>
      </p:sp>
      <p:sp>
        <p:nvSpPr>
          <p:cNvPr id="57" name="Shape 49"/>
          <p:cNvSpPr/>
          <p:nvPr/>
        </p:nvSpPr>
        <p:spPr>
          <a:xfrm>
            <a:off x="4663440" y="245059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8" name="Shape 50"/>
          <p:cNvSpPr/>
          <p:nvPr/>
        </p:nvSpPr>
        <p:spPr>
          <a:xfrm>
            <a:off x="4663440" y="245059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9" name="Shape 51"/>
          <p:cNvSpPr/>
          <p:nvPr/>
        </p:nvSpPr>
        <p:spPr>
          <a:xfrm>
            <a:off x="4736592" y="254203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0" name="Text 52"/>
          <p:cNvSpPr/>
          <p:nvPr/>
        </p:nvSpPr>
        <p:spPr>
          <a:xfrm>
            <a:off x="4736592" y="25420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Text 53"/>
          <p:cNvSpPr/>
          <p:nvPr/>
        </p:nvSpPr>
        <p:spPr>
          <a:xfrm>
            <a:off x="512064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MCP: Add server</a:t>
            </a:r>
            <a:endParaRPr lang="en-US" sz="1050" dirty="0"/>
          </a:p>
        </p:txBody>
      </p:sp>
      <p:sp>
        <p:nvSpPr>
          <p:cNvPr id="62" name="Shape 54"/>
          <p:cNvSpPr/>
          <p:nvPr/>
        </p:nvSpPr>
        <p:spPr>
          <a:xfrm>
            <a:off x="4663440" y="295351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3" name="Shape 55"/>
          <p:cNvSpPr/>
          <p:nvPr/>
        </p:nvSpPr>
        <p:spPr>
          <a:xfrm>
            <a:off x="4663440" y="295351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4" name="Shape 56"/>
          <p:cNvSpPr/>
          <p:nvPr/>
        </p:nvSpPr>
        <p:spPr>
          <a:xfrm>
            <a:off x="4736592" y="304495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ext 57"/>
          <p:cNvSpPr/>
          <p:nvPr/>
        </p:nvSpPr>
        <p:spPr>
          <a:xfrm>
            <a:off x="4736592" y="30449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6" name="Text 58"/>
          <p:cNvSpPr/>
          <p:nvPr/>
        </p:nvSpPr>
        <p:spPr>
          <a:xfrm>
            <a:off x="512064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Add @ui5/mcp-server  and  @sap-ux/fiori-mcp-server</a:t>
            </a:r>
            <a:endParaRPr lang="en-US" sz="1050" dirty="0"/>
          </a:p>
        </p:txBody>
      </p:sp>
      <p:sp>
        <p:nvSpPr>
          <p:cNvPr id="67" name="Shape 59"/>
          <p:cNvSpPr/>
          <p:nvPr/>
        </p:nvSpPr>
        <p:spPr>
          <a:xfrm>
            <a:off x="4663440" y="345643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8" name="Shape 60"/>
          <p:cNvSpPr/>
          <p:nvPr/>
        </p:nvSpPr>
        <p:spPr>
          <a:xfrm>
            <a:off x="4663440" y="345643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Shape 61"/>
          <p:cNvSpPr/>
          <p:nvPr/>
        </p:nvSpPr>
        <p:spPr>
          <a:xfrm>
            <a:off x="4736592" y="354787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0" name="Text 62"/>
          <p:cNvSpPr/>
          <p:nvPr/>
        </p:nvSpPr>
        <p:spPr>
          <a:xfrm>
            <a:off x="4736592" y="35478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1" name="Text 63"/>
          <p:cNvSpPr/>
          <p:nvPr/>
        </p:nvSpPr>
        <p:spPr>
          <a:xfrm>
            <a:off x="512064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Enable tools in Copilot Chat</a:t>
            </a:r>
            <a:endParaRPr lang="en-US" sz="1050" dirty="0"/>
          </a:p>
        </p:txBody>
      </p:sp>
      <p:sp>
        <p:nvSpPr>
          <p:cNvPr id="72" name="Shape 64"/>
          <p:cNvSpPr/>
          <p:nvPr/>
        </p:nvSpPr>
        <p:spPr>
          <a:xfrm>
            <a:off x="4663440" y="3959352"/>
            <a:ext cx="422452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3" name="Shape 65"/>
          <p:cNvSpPr/>
          <p:nvPr/>
        </p:nvSpPr>
        <p:spPr>
          <a:xfrm>
            <a:off x="4663440" y="3959352"/>
            <a:ext cx="50292" cy="43891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4" name="Shape 66"/>
          <p:cNvSpPr/>
          <p:nvPr/>
        </p:nvSpPr>
        <p:spPr>
          <a:xfrm>
            <a:off x="4736592" y="4050792"/>
            <a:ext cx="310896" cy="25603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5" name="Text 67"/>
          <p:cNvSpPr/>
          <p:nvPr/>
        </p:nvSpPr>
        <p:spPr>
          <a:xfrm>
            <a:off x="4736592" y="40507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76" name="Text 68"/>
          <p:cNvSpPr/>
          <p:nvPr/>
        </p:nvSpPr>
        <p:spPr>
          <a:xfrm>
            <a:off x="512064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Create UI5 App through prompts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9976" y="987552"/>
            <a:ext cx="310896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SAP ABAP  DEVELOPMENT   - Q2’2026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CC84"/>
                </a:solidFill>
              </a:rPr>
              <a:t>ABAP (Custom MCP)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217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S/4HANA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3072384"/>
            <a:ext cx="2743200" cy="54864"/>
          </a:xfrm>
          <a:prstGeom prst="rect">
            <a:avLst/>
          </a:prstGeom>
          <a:solidFill>
            <a:srgbClr val="00CC84"/>
          </a:solidFill>
          <a:ln w="12700">
            <a:solidFill>
              <a:srgbClr val="00CC8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548640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8EE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Assisted S4 HANA Development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A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ABAP development using Claude Code + Custom MCP — enforcing Clean Core compliance at every step.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ABAP CUSTOM MCP · PHASE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S/4HANA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07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24528" cy="274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29184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6B"/>
                </a:solidFill>
              </a:rPr>
              <a:t> ABAP CODE REVIEW USING ABAP MCP</a:t>
            </a:r>
            <a:r>
              <a:rPr lang="en-US" sz="900" b="1" kern="0" spc="200" dirty="0">
                <a:solidFill>
                  <a:srgbClr val="00A86B"/>
                </a:solidFill>
                <a:sym typeface="Wingdings" panose="05000000000000000000" pitchFamily="2" charset="2"/>
              </a:rPr>
              <a:t></a:t>
            </a:r>
            <a:r>
              <a:rPr lang="en-US" sz="900" b="1" kern="0" spc="200" dirty="0">
                <a:solidFill>
                  <a:srgbClr val="00A86B"/>
                </a:solidFill>
              </a:rPr>
              <a:t>CLAUDECODE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032" y="1444752"/>
            <a:ext cx="4224528" cy="2487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" y="3986784"/>
            <a:ext cx="4224528" cy="2560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329184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</a:rPr>
              <a:t>EXAMPLE PROMPTS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4279392"/>
            <a:ext cx="4224528" cy="56692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347472" y="4315968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code for class ZCL_INVOICE_PROCESSOR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ABAP report to fetch transaction number,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number, consultant name, BP, telephone, mobile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115568"/>
            <a:ext cx="4224528" cy="274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4736592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A86B"/>
                </a:solidFill>
              </a:rPr>
              <a:t>CLAUDE.md — DEWA ABAP &amp; BTP DEVELOPMENT GUIDELINES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1444752"/>
            <a:ext cx="42245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87552"/>
            <a:ext cx="3108960" cy="32918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SAP DEVELOPMENT AI – Q3’2026 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CC84"/>
                </a:solidFill>
              </a:rPr>
              <a:t>BTP Integration Suite 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217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Integration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3072384"/>
            <a:ext cx="2743200" cy="54864"/>
          </a:xfrm>
          <a:prstGeom prst="rect">
            <a:avLst/>
          </a:prstGeom>
          <a:solidFill>
            <a:srgbClr val="00CC84"/>
          </a:solidFill>
          <a:ln w="12700">
            <a:solidFill>
              <a:srgbClr val="00CC8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548640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8EE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Assisted Integration Design (Build Time Pattern)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A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design-time in SAP Integration Suite — accelerate CPI development without affecting runtime determinism.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A86B"/>
                </a:solidFill>
              </a:rPr>
              <a:t>BTP INTEGRATION SUITE · PHASE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GenAI Integration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46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6B"/>
                </a:solidFill>
              </a:rPr>
              <a:t>09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8631936" cy="347472"/>
          </a:xfrm>
          <a:prstGeom prst="rect">
            <a:avLst/>
          </a:prstGeom>
          <a:solidFill>
            <a:srgbClr val="11203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8631936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65760" y="11521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</a:rPr>
              <a:t>SAP GenAI service embedded in Cloud Integration (Design-time)  ·  Generative AI – Integration Flow Generation  ·  No custom model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554480"/>
            <a:ext cx="2798064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2798064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2798064" cy="50292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84048" y="1554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6B"/>
                </a:solidFill>
              </a:rPr>
              <a:t>WHERE AI IS USED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206875"/>
            <a:ext cx="128016" cy="12801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576072" y="20116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SAP GenAI service embedded in Cloud Integration (Design-time)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911154"/>
            <a:ext cx="128016" cy="12801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76072" y="27066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Generative AI drives Integration Flow Generation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624758"/>
            <a:ext cx="128016" cy="12801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576072" y="34015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No custom model required — uses SAP's embedded LLM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554480"/>
            <a:ext cx="2798064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3200400" y="1554480"/>
            <a:ext cx="2798064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3200400" y="1554480"/>
            <a:ext cx="2798064" cy="502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328416" y="1554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B82F6"/>
                </a:solidFill>
              </a:rPr>
              <a:t>USE WHEN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28416" y="2234873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3520440" y="20116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Integration design intent and interface standardization only — not executable logic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28416" y="2939143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3520440" y="27066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Accelerating CPI development cycles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28416" y="362476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3520440" y="34015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PI/PO → Integration Suite modernization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1554480"/>
            <a:ext cx="2798064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6144768" y="1554480"/>
            <a:ext cx="2798064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6144768" y="1554480"/>
            <a:ext cx="2798064" cy="50292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6272784" y="1554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C842"/>
                </a:solidFill>
              </a:rPr>
              <a:t>WHAT THE LLM INTERPRETS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72784" y="2262864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6464808" y="20116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Source system &amp; target system identification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72784" y="2939143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6464808" y="27066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Message direction and sync vs async assumption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72784" y="3624760"/>
            <a:ext cx="128016" cy="12801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6464808" y="34015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Integration pattern selection and flow scaffolding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256032" y="4736592"/>
            <a:ext cx="50292" cy="18288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47472" y="47274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Build-time only — AI assists in design; it never affects runtime execution or message determinism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870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Development AI – DEWA I&amp;TF</dc:title>
  <dc:subject>PptxGenJS Presentation</dc:subject>
  <dc:creator>PptxGenJS</dc:creator>
  <cp:lastModifiedBy>Narayan Das</cp:lastModifiedBy>
  <cp:revision>7</cp:revision>
  <dcterms:created xsi:type="dcterms:W3CDTF">2026-04-15T12:57:54Z</dcterms:created>
  <dcterms:modified xsi:type="dcterms:W3CDTF">2026-04-15T14:29:33Z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dd8829-88e8-4e27-a0c9-5d2bc799f97c_Enabled">
    <vt:lpwstr>true</vt:lpwstr>
  </property>
  <property fmtid="{D5CDD505-2E9C-101B-9397-08002B2CF9AE}" pid="3" name="MSIP_Label_45dd8829-88e8-4e27-a0c9-5d2bc799f97c_SetDate">
    <vt:lpwstr>2026-04-15T13:05:57Z</vt:lpwstr>
  </property>
  <property fmtid="{D5CDD505-2E9C-101B-9397-08002B2CF9AE}" pid="4" name="MSIP_Label_45dd8829-88e8-4e27-a0c9-5d2bc799f97c_Method">
    <vt:lpwstr>Standard</vt:lpwstr>
  </property>
  <property fmtid="{D5CDD505-2E9C-101B-9397-08002B2CF9AE}" pid="5" name="MSIP_Label_45dd8829-88e8-4e27-a0c9-5d2bc799f97c_Name">
    <vt:lpwstr>Confidential</vt:lpwstr>
  </property>
  <property fmtid="{D5CDD505-2E9C-101B-9397-08002B2CF9AE}" pid="6" name="MSIP_Label_45dd8829-88e8-4e27-a0c9-5d2bc799f97c_SiteId">
    <vt:lpwstr>a1104cac-3f3e-4e9d-a251-a93724b1727b</vt:lpwstr>
  </property>
  <property fmtid="{D5CDD505-2E9C-101B-9397-08002B2CF9AE}" pid="7" name="MSIP_Label_45dd8829-88e8-4e27-a0c9-5d2bc799f97c_ActionId">
    <vt:lpwstr>f116e7f5-81fb-4ca9-abf5-fd290eed77d5</vt:lpwstr>
  </property>
  <property fmtid="{D5CDD505-2E9C-101B-9397-08002B2CF9AE}" pid="8" name="MSIP_Label_45dd8829-88e8-4e27-a0c9-5d2bc799f97c_ContentBits">
    <vt:lpwstr>2</vt:lpwstr>
  </property>
  <property fmtid="{D5CDD505-2E9C-101B-9397-08002B2CF9AE}" pid="9" name="MSIP_Label_45dd8829-88e8-4e27-a0c9-5d2bc799f97c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DEWA-Confidential</vt:lpwstr>
  </property>
</Properties>
</file>